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Public Sans" charset="1" panose="00000000000000000000"/>
      <p:regular r:id="rId11"/>
    </p:embeddedFont>
    <p:embeddedFont>
      <p:font typeface="Agrandir" charset="1" panose="0000050000000000000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8D2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0" y="302221"/>
            <a:ext cx="8841904" cy="9682557"/>
            <a:chOff x="0" y="0"/>
            <a:chExt cx="2328732" cy="25501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28732" cy="2550139"/>
            </a:xfrm>
            <a:custGeom>
              <a:avLst/>
              <a:gdLst/>
              <a:ahLst/>
              <a:cxnLst/>
              <a:rect r="r" b="b" t="t" l="l"/>
              <a:pathLst>
                <a:path h="2550139" w="2328732">
                  <a:moveTo>
                    <a:pt x="0" y="0"/>
                  </a:moveTo>
                  <a:lnTo>
                    <a:pt x="2328732" y="0"/>
                  </a:lnTo>
                  <a:lnTo>
                    <a:pt x="2328732" y="2550139"/>
                  </a:lnTo>
                  <a:lnTo>
                    <a:pt x="0" y="2550139"/>
                  </a:lnTo>
                  <a:close/>
                </a:path>
              </a:pathLst>
            </a:custGeom>
            <a:solidFill>
              <a:srgbClr val="FBF6F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328732" cy="25787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336836" y="1915384"/>
            <a:ext cx="6456233" cy="6456233"/>
          </a:xfrm>
          <a:custGeom>
            <a:avLst/>
            <a:gdLst/>
            <a:ahLst/>
            <a:cxnLst/>
            <a:rect r="r" b="b" t="t" l="l"/>
            <a:pathLst>
              <a:path h="6456233" w="6456233">
                <a:moveTo>
                  <a:pt x="0" y="0"/>
                </a:moveTo>
                <a:lnTo>
                  <a:pt x="6456232" y="0"/>
                </a:lnTo>
                <a:lnTo>
                  <a:pt x="6456232" y="6456232"/>
                </a:lnTo>
                <a:lnTo>
                  <a:pt x="0" y="64562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1276350"/>
            <a:ext cx="7527889" cy="6134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599"/>
              </a:lnSpc>
            </a:pPr>
            <a:r>
              <a:rPr lang="en-US" sz="9999" spc="-959">
                <a:solidFill>
                  <a:srgbClr val="156669"/>
                </a:solidFill>
                <a:latin typeface="Public Sans"/>
                <a:ea typeface="Public Sans"/>
                <a:cs typeface="Public Sans"/>
                <a:sym typeface="Public Sans"/>
              </a:rPr>
              <a:t>3D  Heart CT Scan Imaging for Early Disease Detection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7496174"/>
            <a:ext cx="7527889" cy="984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19"/>
              </a:lnSpc>
            </a:pPr>
            <a:r>
              <a:rPr lang="en-US" sz="3999" spc="-327">
                <a:solidFill>
                  <a:srgbClr val="156669"/>
                </a:solidFill>
                <a:latin typeface="Public Sans"/>
                <a:ea typeface="Public Sans"/>
                <a:cs typeface="Public Sans"/>
                <a:sym typeface="Public Sans"/>
              </a:rPr>
              <a:t>A Graph-Based Approach to Flagging At-Risk Patients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8D2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9587092" y="1882466"/>
            <a:ext cx="7428858" cy="6725534"/>
            <a:chOff x="0" y="0"/>
            <a:chExt cx="5580380" cy="50520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-705" y="-225"/>
              <a:ext cx="5580557" cy="5052325"/>
            </a:xfrm>
            <a:custGeom>
              <a:avLst/>
              <a:gdLst/>
              <a:ahLst/>
              <a:cxnLst/>
              <a:rect r="r" b="b" t="t" l="l"/>
              <a:pathLst>
                <a:path h="5052325" w="5580557">
                  <a:moveTo>
                    <a:pt x="4709865" y="382495"/>
                  </a:moveTo>
                  <a:cubicBezTo>
                    <a:pt x="3938975" y="-21365"/>
                    <a:pt x="3222695" y="439645"/>
                    <a:pt x="2649925" y="439645"/>
                  </a:cubicBezTo>
                  <a:cubicBezTo>
                    <a:pt x="2205425" y="439645"/>
                    <a:pt x="1367225" y="-672875"/>
                    <a:pt x="366465" y="641575"/>
                  </a:cubicBezTo>
                  <a:cubicBezTo>
                    <a:pt x="-634295" y="1956025"/>
                    <a:pt x="612845" y="3193005"/>
                    <a:pt x="1734255" y="4273775"/>
                  </a:cubicBezTo>
                  <a:cubicBezTo>
                    <a:pt x="2855665" y="5354545"/>
                    <a:pt x="4379665" y="5336765"/>
                    <a:pt x="5259775" y="4052795"/>
                  </a:cubicBezTo>
                  <a:cubicBezTo>
                    <a:pt x="5854135" y="3186655"/>
                    <a:pt x="5595055" y="847315"/>
                    <a:pt x="4709865" y="382495"/>
                  </a:cubicBezTo>
                  <a:close/>
                </a:path>
              </a:pathLst>
            </a:custGeom>
            <a:blipFill>
              <a:blip r:embed="rId2"/>
              <a:stretch>
                <a:fillRect l="-17503" t="0" r="-3209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219200" y="3955922"/>
            <a:ext cx="390656" cy="345908"/>
          </a:xfrm>
          <a:custGeom>
            <a:avLst/>
            <a:gdLst/>
            <a:ahLst/>
            <a:cxnLst/>
            <a:rect r="r" b="b" t="t" l="l"/>
            <a:pathLst>
              <a:path h="345908" w="390656">
                <a:moveTo>
                  <a:pt x="0" y="0"/>
                </a:moveTo>
                <a:lnTo>
                  <a:pt x="390656" y="0"/>
                </a:lnTo>
                <a:lnTo>
                  <a:pt x="390656" y="345908"/>
                </a:lnTo>
                <a:lnTo>
                  <a:pt x="0" y="34590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219200" y="3473287"/>
            <a:ext cx="7794590" cy="4184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50"/>
              </a:lnSpc>
            </a:pPr>
            <a:r>
              <a:rPr lang="en-US" sz="5000">
                <a:solidFill>
                  <a:srgbClr val="156669"/>
                </a:solidFill>
                <a:latin typeface="Agrandir"/>
                <a:ea typeface="Agrandir"/>
                <a:cs typeface="Agrandir"/>
                <a:sym typeface="Agrandir"/>
              </a:rPr>
              <a:t>   Naledi: 218104732</a:t>
            </a:r>
            <a:r>
              <a:rPr lang="en-US" sz="5000">
                <a:solidFill>
                  <a:srgbClr val="156669"/>
                </a:solidFill>
                <a:latin typeface="Agrandir"/>
                <a:ea typeface="Agrandir"/>
                <a:cs typeface="Agrandir"/>
                <a:sym typeface="Agrandir"/>
              </a:rPr>
              <a:t> </a:t>
            </a:r>
          </a:p>
          <a:p>
            <a:pPr algn="l">
              <a:lnSpc>
                <a:spcPts val="8150"/>
              </a:lnSpc>
            </a:pPr>
            <a:r>
              <a:rPr lang="en-US" sz="5000">
                <a:solidFill>
                  <a:srgbClr val="156669"/>
                </a:solidFill>
                <a:latin typeface="Agrandir"/>
                <a:ea typeface="Agrandir"/>
                <a:cs typeface="Agrandir"/>
                <a:sym typeface="Agrandir"/>
              </a:rPr>
              <a:t>   </a:t>
            </a:r>
            <a:r>
              <a:rPr lang="en-US" sz="5000">
                <a:solidFill>
                  <a:srgbClr val="156669"/>
                </a:solidFill>
                <a:latin typeface="Agrandir"/>
                <a:ea typeface="Agrandir"/>
                <a:cs typeface="Agrandir"/>
                <a:sym typeface="Agrandir"/>
              </a:rPr>
              <a:t>Refiloe: 221014292 </a:t>
            </a:r>
          </a:p>
          <a:p>
            <a:pPr algn="l">
              <a:lnSpc>
                <a:spcPts val="8150"/>
              </a:lnSpc>
            </a:pPr>
            <a:r>
              <a:rPr lang="en-US" sz="5000">
                <a:solidFill>
                  <a:srgbClr val="156669"/>
                </a:solidFill>
                <a:latin typeface="Agrandir"/>
                <a:ea typeface="Agrandir"/>
                <a:cs typeface="Agrandir"/>
                <a:sym typeface="Agrandir"/>
              </a:rPr>
              <a:t>   </a:t>
            </a:r>
            <a:r>
              <a:rPr lang="en-US" sz="5000">
                <a:solidFill>
                  <a:srgbClr val="156669"/>
                </a:solidFill>
                <a:latin typeface="Agrandir"/>
                <a:ea typeface="Agrandir"/>
                <a:cs typeface="Agrandir"/>
                <a:sym typeface="Agrandir"/>
              </a:rPr>
              <a:t>Samrin: 222005020 </a:t>
            </a:r>
          </a:p>
          <a:p>
            <a:pPr algn="l">
              <a:lnSpc>
                <a:spcPts val="8150"/>
              </a:lnSpc>
            </a:pPr>
            <a:r>
              <a:rPr lang="en-US" sz="5000">
                <a:solidFill>
                  <a:srgbClr val="156669"/>
                </a:solidFill>
                <a:latin typeface="Agrandir"/>
                <a:ea typeface="Agrandir"/>
                <a:cs typeface="Agrandir"/>
                <a:sym typeface="Agrandir"/>
              </a:rPr>
              <a:t>   Thato: 224022442 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219200" y="4993375"/>
            <a:ext cx="390656" cy="345908"/>
          </a:xfrm>
          <a:custGeom>
            <a:avLst/>
            <a:gdLst/>
            <a:ahLst/>
            <a:cxnLst/>
            <a:rect r="r" b="b" t="t" l="l"/>
            <a:pathLst>
              <a:path h="345908" w="390656">
                <a:moveTo>
                  <a:pt x="0" y="0"/>
                </a:moveTo>
                <a:lnTo>
                  <a:pt x="390656" y="0"/>
                </a:lnTo>
                <a:lnTo>
                  <a:pt x="390656" y="345908"/>
                </a:lnTo>
                <a:lnTo>
                  <a:pt x="0" y="34590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19200" y="6030829"/>
            <a:ext cx="390656" cy="345908"/>
          </a:xfrm>
          <a:custGeom>
            <a:avLst/>
            <a:gdLst/>
            <a:ahLst/>
            <a:cxnLst/>
            <a:rect r="r" b="b" t="t" l="l"/>
            <a:pathLst>
              <a:path h="345908" w="390656">
                <a:moveTo>
                  <a:pt x="0" y="0"/>
                </a:moveTo>
                <a:lnTo>
                  <a:pt x="390656" y="0"/>
                </a:lnTo>
                <a:lnTo>
                  <a:pt x="390656" y="345908"/>
                </a:lnTo>
                <a:lnTo>
                  <a:pt x="0" y="34590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19200" y="7072062"/>
            <a:ext cx="390656" cy="345908"/>
          </a:xfrm>
          <a:custGeom>
            <a:avLst/>
            <a:gdLst/>
            <a:ahLst/>
            <a:cxnLst/>
            <a:rect r="r" b="b" t="t" l="l"/>
            <a:pathLst>
              <a:path h="345908" w="390656">
                <a:moveTo>
                  <a:pt x="0" y="0"/>
                </a:moveTo>
                <a:lnTo>
                  <a:pt x="390656" y="0"/>
                </a:lnTo>
                <a:lnTo>
                  <a:pt x="390656" y="345908"/>
                </a:lnTo>
                <a:lnTo>
                  <a:pt x="0" y="34590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219200" y="2515516"/>
            <a:ext cx="7794590" cy="1043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679"/>
              </a:lnSpc>
            </a:pPr>
            <a:r>
              <a:rPr lang="en-US" sz="7999" spc="-767">
                <a:solidFill>
                  <a:srgbClr val="156669"/>
                </a:solidFill>
                <a:latin typeface="Public Sans"/>
                <a:ea typeface="Public Sans"/>
                <a:cs typeface="Public Sans"/>
                <a:sym typeface="Public Sans"/>
              </a:rPr>
              <a:t>&lt;T&gt;he  Adaptors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564604"/>
            <a:ext cx="8988527" cy="5521325"/>
            <a:chOff x="0" y="0"/>
            <a:chExt cx="11984702" cy="73617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20874" cy="461210"/>
            </a:xfrm>
            <a:custGeom>
              <a:avLst/>
              <a:gdLst/>
              <a:ahLst/>
              <a:cxnLst/>
              <a:rect r="r" b="b" t="t" l="l"/>
              <a:pathLst>
                <a:path h="461210" w="520874">
                  <a:moveTo>
                    <a:pt x="0" y="0"/>
                  </a:moveTo>
                  <a:lnTo>
                    <a:pt x="520874" y="0"/>
                  </a:lnTo>
                  <a:lnTo>
                    <a:pt x="520874" y="461210"/>
                  </a:lnTo>
                  <a:lnTo>
                    <a:pt x="0" y="4612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2048710"/>
              <a:ext cx="520874" cy="461210"/>
            </a:xfrm>
            <a:custGeom>
              <a:avLst/>
              <a:gdLst/>
              <a:ahLst/>
              <a:cxnLst/>
              <a:rect r="r" b="b" t="t" l="l"/>
              <a:pathLst>
                <a:path h="461210" w="520874">
                  <a:moveTo>
                    <a:pt x="0" y="0"/>
                  </a:moveTo>
                  <a:lnTo>
                    <a:pt x="520874" y="0"/>
                  </a:lnTo>
                  <a:lnTo>
                    <a:pt x="520874" y="461211"/>
                  </a:lnTo>
                  <a:lnTo>
                    <a:pt x="0" y="4612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4097421"/>
              <a:ext cx="520874" cy="461210"/>
            </a:xfrm>
            <a:custGeom>
              <a:avLst/>
              <a:gdLst/>
              <a:ahLst/>
              <a:cxnLst/>
              <a:rect r="r" b="b" t="t" l="l"/>
              <a:pathLst>
                <a:path h="461210" w="520874">
                  <a:moveTo>
                    <a:pt x="0" y="0"/>
                  </a:moveTo>
                  <a:lnTo>
                    <a:pt x="520874" y="0"/>
                  </a:lnTo>
                  <a:lnTo>
                    <a:pt x="520874" y="461210"/>
                  </a:lnTo>
                  <a:lnTo>
                    <a:pt x="0" y="4612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6146131"/>
              <a:ext cx="520874" cy="461210"/>
            </a:xfrm>
            <a:custGeom>
              <a:avLst/>
              <a:gdLst/>
              <a:ahLst/>
              <a:cxnLst/>
              <a:rect r="r" b="b" t="t" l="l"/>
              <a:pathLst>
                <a:path h="461210" w="520874">
                  <a:moveTo>
                    <a:pt x="0" y="0"/>
                  </a:moveTo>
                  <a:lnTo>
                    <a:pt x="520874" y="0"/>
                  </a:lnTo>
                  <a:lnTo>
                    <a:pt x="520874" y="461211"/>
                  </a:lnTo>
                  <a:lnTo>
                    <a:pt x="0" y="4612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 rot="0">
              <a:off x="578470" y="-171450"/>
              <a:ext cx="11406232" cy="75332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074"/>
                </a:lnSpc>
              </a:pPr>
              <a:r>
                <a:rPr lang="en-US" sz="2499">
                  <a:solidFill>
                    <a:srgbClr val="156669"/>
                  </a:solidFill>
                  <a:latin typeface="Agrandir"/>
                  <a:ea typeface="Agrandir"/>
                  <a:cs typeface="Agrandir"/>
                  <a:sym typeface="Agrandir"/>
                </a:rPr>
                <a:t>South Africa’s healthcare system faces a heavy burden from chronic lifestyle diseases.</a:t>
              </a:r>
            </a:p>
            <a:p>
              <a:pPr algn="l">
                <a:lnSpc>
                  <a:spcPts val="4074"/>
                </a:lnSpc>
              </a:pPr>
            </a:p>
            <a:p>
              <a:pPr algn="l">
                <a:lnSpc>
                  <a:spcPts val="4074"/>
                </a:lnSpc>
              </a:pPr>
              <a:r>
                <a:rPr lang="en-US" sz="2499">
                  <a:solidFill>
                    <a:srgbClr val="156669"/>
                  </a:solidFill>
                  <a:latin typeface="Agrandir"/>
                  <a:ea typeface="Agrandir"/>
                  <a:cs typeface="Agrandir"/>
                  <a:sym typeface="Agrandir"/>
                </a:rPr>
                <a:t>CT scans are widely used but mainly for reactive diagnosis rather than early detection of cardiac risks.</a:t>
              </a:r>
            </a:p>
            <a:p>
              <a:pPr algn="l">
                <a:lnSpc>
                  <a:spcPts val="4074"/>
                </a:lnSpc>
              </a:pPr>
            </a:p>
            <a:p>
              <a:pPr algn="l">
                <a:lnSpc>
                  <a:spcPts val="4074"/>
                </a:lnSpc>
              </a:pPr>
              <a:r>
                <a:rPr lang="en-US" sz="2499">
                  <a:solidFill>
                    <a:srgbClr val="156669"/>
                  </a:solidFill>
                  <a:latin typeface="Agrandir"/>
                  <a:ea typeface="Agrandir"/>
                  <a:cs typeface="Agrandir"/>
                  <a:sym typeface="Agrandir"/>
                </a:rPr>
                <a:t>There is a lack of automated tools to identify early warning signs like heart calcification.</a:t>
              </a:r>
            </a:p>
            <a:p>
              <a:pPr algn="l">
                <a:lnSpc>
                  <a:spcPts val="4074"/>
                </a:lnSpc>
              </a:pPr>
            </a:p>
            <a:p>
              <a:pPr algn="l">
                <a:lnSpc>
                  <a:spcPts val="4074"/>
                </a:lnSpc>
              </a:pPr>
              <a:r>
                <a:rPr lang="en-US" sz="2499">
                  <a:solidFill>
                    <a:srgbClr val="156669"/>
                  </a:solidFill>
                  <a:latin typeface="Agrandir"/>
                  <a:ea typeface="Agrandir"/>
                  <a:cs typeface="Agrandir"/>
                  <a:sym typeface="Agrandir"/>
                </a:rPr>
                <a:t>Manual analysis of 3D DICOM scans is time-consuming and labor-intensive for radiologists.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0207727" y="2962837"/>
            <a:ext cx="7051573" cy="4361325"/>
          </a:xfrm>
          <a:custGeom>
            <a:avLst/>
            <a:gdLst/>
            <a:ahLst/>
            <a:cxnLst/>
            <a:rect r="r" b="b" t="t" l="l"/>
            <a:pathLst>
              <a:path h="4361325" w="7051573">
                <a:moveTo>
                  <a:pt x="0" y="0"/>
                </a:moveTo>
                <a:lnTo>
                  <a:pt x="7051573" y="0"/>
                </a:lnTo>
                <a:lnTo>
                  <a:pt x="7051573" y="4361326"/>
                </a:lnTo>
                <a:lnTo>
                  <a:pt x="0" y="43613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7680" t="0" r="-10408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1200150"/>
            <a:ext cx="8554947" cy="1043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679"/>
              </a:lnSpc>
            </a:pPr>
            <a:r>
              <a:rPr lang="en-US" sz="7999" spc="-767">
                <a:solidFill>
                  <a:srgbClr val="156669"/>
                </a:solidFill>
                <a:latin typeface="Public Sans"/>
                <a:ea typeface="Public Sans"/>
                <a:cs typeface="Public Sans"/>
                <a:sym typeface="Public Sans"/>
              </a:rPr>
              <a:t>&lt;T&gt;he  Problem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8D2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564604"/>
            <a:ext cx="8988527" cy="5521325"/>
            <a:chOff x="0" y="0"/>
            <a:chExt cx="11984702" cy="73617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20874" cy="461210"/>
            </a:xfrm>
            <a:custGeom>
              <a:avLst/>
              <a:gdLst/>
              <a:ahLst/>
              <a:cxnLst/>
              <a:rect r="r" b="b" t="t" l="l"/>
              <a:pathLst>
                <a:path h="461210" w="520874">
                  <a:moveTo>
                    <a:pt x="0" y="0"/>
                  </a:moveTo>
                  <a:lnTo>
                    <a:pt x="520874" y="0"/>
                  </a:lnTo>
                  <a:lnTo>
                    <a:pt x="520874" y="461210"/>
                  </a:lnTo>
                  <a:lnTo>
                    <a:pt x="0" y="4612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2048710"/>
              <a:ext cx="520874" cy="461210"/>
            </a:xfrm>
            <a:custGeom>
              <a:avLst/>
              <a:gdLst/>
              <a:ahLst/>
              <a:cxnLst/>
              <a:rect r="r" b="b" t="t" l="l"/>
              <a:pathLst>
                <a:path h="461210" w="520874">
                  <a:moveTo>
                    <a:pt x="0" y="0"/>
                  </a:moveTo>
                  <a:lnTo>
                    <a:pt x="520874" y="0"/>
                  </a:lnTo>
                  <a:lnTo>
                    <a:pt x="520874" y="461211"/>
                  </a:lnTo>
                  <a:lnTo>
                    <a:pt x="0" y="4612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4097421"/>
              <a:ext cx="520874" cy="461210"/>
            </a:xfrm>
            <a:custGeom>
              <a:avLst/>
              <a:gdLst/>
              <a:ahLst/>
              <a:cxnLst/>
              <a:rect r="r" b="b" t="t" l="l"/>
              <a:pathLst>
                <a:path h="461210" w="520874">
                  <a:moveTo>
                    <a:pt x="0" y="0"/>
                  </a:moveTo>
                  <a:lnTo>
                    <a:pt x="520874" y="0"/>
                  </a:lnTo>
                  <a:lnTo>
                    <a:pt x="520874" y="461210"/>
                  </a:lnTo>
                  <a:lnTo>
                    <a:pt x="0" y="4612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6146131"/>
              <a:ext cx="520874" cy="461210"/>
            </a:xfrm>
            <a:custGeom>
              <a:avLst/>
              <a:gdLst/>
              <a:ahLst/>
              <a:cxnLst/>
              <a:rect r="r" b="b" t="t" l="l"/>
              <a:pathLst>
                <a:path h="461210" w="520874">
                  <a:moveTo>
                    <a:pt x="0" y="0"/>
                  </a:moveTo>
                  <a:lnTo>
                    <a:pt x="520874" y="0"/>
                  </a:lnTo>
                  <a:lnTo>
                    <a:pt x="520874" y="461211"/>
                  </a:lnTo>
                  <a:lnTo>
                    <a:pt x="0" y="4612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 rot="0">
              <a:off x="578470" y="-171450"/>
              <a:ext cx="11406232" cy="75332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074"/>
                </a:lnSpc>
              </a:pPr>
              <a:r>
                <a:rPr lang="en-US" sz="2499">
                  <a:solidFill>
                    <a:srgbClr val="156669"/>
                  </a:solidFill>
                  <a:latin typeface="Agrandir"/>
                  <a:ea typeface="Agrandir"/>
                  <a:cs typeface="Agrandir"/>
                  <a:sym typeface="Agrandir"/>
                </a:rPr>
                <a:t>We model heart scans using 3D graph structures to analyze calcification patterns.</a:t>
              </a:r>
            </a:p>
            <a:p>
              <a:pPr algn="l">
                <a:lnSpc>
                  <a:spcPts val="4074"/>
                </a:lnSpc>
              </a:pPr>
            </a:p>
            <a:p>
              <a:pPr algn="l">
                <a:lnSpc>
                  <a:spcPts val="4074"/>
                </a:lnSpc>
              </a:pPr>
              <a:r>
                <a:rPr lang="en-US" sz="2499">
                  <a:solidFill>
                    <a:srgbClr val="156669"/>
                  </a:solidFill>
                  <a:latin typeface="Agrandir"/>
                  <a:ea typeface="Agrandir"/>
                  <a:cs typeface="Agrandir"/>
                  <a:sym typeface="Agrandir"/>
                </a:rPr>
                <a:t>Each scan is converted into a feature vector capturing intensity, density, and connectivity.</a:t>
              </a:r>
            </a:p>
            <a:p>
              <a:pPr algn="l">
                <a:lnSpc>
                  <a:spcPts val="4074"/>
                </a:lnSpc>
              </a:pPr>
            </a:p>
            <a:p>
              <a:pPr algn="l">
                <a:lnSpc>
                  <a:spcPts val="4074"/>
                </a:lnSpc>
              </a:pPr>
              <a:r>
                <a:rPr lang="en-US" sz="2499">
                  <a:solidFill>
                    <a:srgbClr val="156669"/>
                  </a:solidFill>
                  <a:latin typeface="Agrandir"/>
                  <a:ea typeface="Agrandir"/>
                  <a:cs typeface="Agrandir"/>
                  <a:sym typeface="Agrandir"/>
                </a:rPr>
                <a:t>A KD-Tree organizes historical data for fast similarity matching.</a:t>
              </a:r>
            </a:p>
            <a:p>
              <a:pPr algn="l">
                <a:lnSpc>
                  <a:spcPts val="4074"/>
                </a:lnSpc>
              </a:pPr>
            </a:p>
            <a:p>
              <a:pPr algn="l">
                <a:lnSpc>
                  <a:spcPts val="4074"/>
                </a:lnSpc>
              </a:pPr>
              <a:r>
                <a:rPr lang="en-US" sz="2499">
                  <a:solidFill>
                    <a:srgbClr val="156669"/>
                  </a:solidFill>
                  <a:latin typeface="Agrandir"/>
                  <a:ea typeface="Agrandir"/>
                  <a:cs typeface="Agrandir"/>
                  <a:sym typeface="Agrandir"/>
                </a:rPr>
                <a:t>New scans are compared to known cases to classify risk and flag patients for review.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28700" y="1200150"/>
            <a:ext cx="8554947" cy="1043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679"/>
              </a:lnSpc>
            </a:pPr>
            <a:r>
              <a:rPr lang="en-US" sz="7999" spc="-767">
                <a:solidFill>
                  <a:srgbClr val="156669"/>
                </a:solidFill>
                <a:latin typeface="Public Sans"/>
                <a:ea typeface="Public Sans"/>
                <a:cs typeface="Public Sans"/>
                <a:sym typeface="Public Sans"/>
              </a:rPr>
              <a:t>&lt;T&gt;he  Solution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0465422" y="2032812"/>
            <a:ext cx="6221377" cy="6221377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652780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652780"/>
                  </a:lnTo>
                  <a:lnTo>
                    <a:pt x="160020" y="812800"/>
                  </a:lnTo>
                  <a:lnTo>
                    <a:pt x="652780" y="812800"/>
                  </a:lnTo>
                  <a:lnTo>
                    <a:pt x="812800" y="652780"/>
                  </a:lnTo>
                  <a:lnTo>
                    <a:pt x="812800" y="160020"/>
                  </a:lnTo>
                  <a:lnTo>
                    <a:pt x="65278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756316" y="1654667"/>
            <a:ext cx="12775368" cy="8527558"/>
          </a:xfrm>
          <a:custGeom>
            <a:avLst/>
            <a:gdLst/>
            <a:ahLst/>
            <a:cxnLst/>
            <a:rect r="r" b="b" t="t" l="l"/>
            <a:pathLst>
              <a:path h="8527558" w="12775368">
                <a:moveTo>
                  <a:pt x="0" y="0"/>
                </a:moveTo>
                <a:lnTo>
                  <a:pt x="12775368" y="0"/>
                </a:lnTo>
                <a:lnTo>
                  <a:pt x="12775368" y="8527558"/>
                </a:lnTo>
                <a:lnTo>
                  <a:pt x="0" y="85275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826712" y="478156"/>
            <a:ext cx="10634576" cy="1043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679"/>
              </a:lnSpc>
            </a:pPr>
            <a:r>
              <a:rPr lang="en-US" sz="7999" spc="-767">
                <a:solidFill>
                  <a:srgbClr val="156669"/>
                </a:solidFill>
                <a:latin typeface="Public Sans"/>
                <a:ea typeface="Public Sans"/>
                <a:cs typeface="Public Sans"/>
                <a:sym typeface="Public Sans"/>
              </a:rPr>
              <a:t>System Implementation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DAHIgT64dpc</dc:identifier>
  <dcterms:modified xsi:type="dcterms:W3CDTF">2011-08-01T06:04:30Z</dcterms:modified>
  <cp:revision>1</cp:revision>
  <dc:title>Blue Illustrated Medical Center Presentation</dc:title>
</cp:coreProperties>
</file>